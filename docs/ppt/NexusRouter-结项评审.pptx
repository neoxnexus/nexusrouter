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0" r:id="rId13"/>
    <p:sldId id="265" r:id="rId14"/>
    <p:sldId id="266" r:id="rId15"/>
    <p:sldId id="267" r:id="rId16"/>
    <p:sldId id="268" r:id="rId17"/>
    <p:sldId id="269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讲稿（约 20 秒）：</a:t>
            </a:r>
          </a:p>
          <a:p>
            <a:r>
              <a:t>各位评委好。我汇报的项目是 NexusRouter，一个部署在中孚互联网大模型平台（new-api）前的智能模型调度层。它解决的问题，相信在座用过公司大模型平台的同事都有体感。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讲稿（约 90 秒）：</a:t>
            </a:r>
          </a:p>
          <a:p>
            <a:r>
              <a:t>先看现状。平台已经有了很完整的模型矩阵，从轻量的 MiniMax2.5 到旗舰 GLM-5.2，还有私有部署的 Qwen 系列——这就像一家科室齐全的医院。但现在的使用方式，相当于没有分诊台，病人进门直接自己找医生，于是出现三个现象：</a:t>
            </a:r>
          </a:p>
          <a:p>
            <a:r>
              <a:t>第一，感冒也挂专家号。Claude Code、Cursor 这类 AI 编程助手是 Agent 形态，你给一个任务，它每分钟在后台自动产生大量请求：读文件、确认状态、工具回调。这些请求复杂度天差地别，却百分之百打给同一个高档模型——"继续"两个字和"重新设计这个模块的架构"，看的是同一个专家。这个浪费很隐蔽，单次几毛钱没人心疼，但乘以每个请求、每个人、每个月，就是可观的成本。</a:t>
            </a:r>
          </a:p>
          <a:p>
            <a:r>
              <a:t>第二，专家号全靠拼手速。GLM-5.2 有日限额和周限额，谁能看上专家，取决于谁挂得早，而不是谁的病更重。</a:t>
            </a:r>
          </a:p>
          <a:p>
            <a:r>
              <a:t>第三，一个科室排长队，隔壁门可罗雀。大家的请求凭使用习惯集中在个别模型上，模型矩阵的整体价值没有充分释放出来。</a:t>
            </a:r>
          </a:p>
          <a:p>
            <a:r>
              <a:t>医院不缺科室，缺的是分诊台。我的项目，就是给公司的模型矩阵补上这个分诊台。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讲稿（约 90 秒）：</a:t>
            </a:r>
          </a:p>
          <a:p>
            <a:r>
              <a:t>方案是在员工和平台之间加一个智能调度层。接入做到了"三个零"：零学习成本——baseurl 指向路由、模型填 auto 即可；零改造——双协议兼容主流 Agent；零门槛——npm 一行命令安装，用 AI 编程工具的同事本来就有 node 环境。</a:t>
            </a:r>
          </a:p>
          <a:p>
            <a:r>
              <a:t>特别说明两个"自由"：第一，模型选择自由——填 auto 才走路由，填具体模型名就直连，路由只是一个可选项，不是强制绑定，用户随时可以切回去。第二，部署自由——个人可以本地跑，公司场景推荐服务侧集中部署，挂在平台前面统一运维。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讲稿（约 60 秒）：</a:t>
            </a:r>
          </a:p>
          <a:p>
            <a:r>
              <a:t>在讲方案之前，先立两条标准——这个项目做到什么程度算成功？</a:t>
            </a:r>
          </a:p>
          <a:p>
            <a:r>
              <a:t>第一，响应时间可控。分类是串行在请求转发之前的，它的延迟会一比一叠加到首字时间上。路由是每天要承受成百上千次调用的基础设施，慢一点点都会被立刻感知，所以路由前后体感必须零差异。</a:t>
            </a:r>
          </a:p>
          <a:p>
            <a:r>
              <a:t>第二，复杂任务零欠档。这里要注意判错的代价是不对称的：把复杂任务判简单了，是看得见的质量事故；把简单任务判复杂了，只是静默多花一点钱。所以标准不是抽象的"准确率"，而是一条底线——宁可过档，不可欠档。</a:t>
            </a:r>
          </a:p>
          <a:p>
            <a:r>
              <a:t>接下来两页，就是这两条标准如何决定整个机制的设计。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讲稿（约 2 分钟）：</a:t>
            </a:r>
          </a:p>
          <a:p>
            <a:r>
              <a:t>核心机制是"三级分类、四级调度"。这套级联首先是为第一条标准服务的：最快的规则层 0.05 毫秒先短路，能接住的请求根本走不到后面的层，延迟几乎为零。</a:t>
            </a:r>
          </a:p>
          <a:p>
            <a:r>
              <a:t>分类是级联的：最快最便宜的规则层先短路——Agent 产生的大量背景请求，问候、确认、工具回调，0.05 毫秒内被识别，直接发往轻量模型。接不住的进入启发式层，根据代码块、推理关键词、任务规模等信号判定档位，整个过程不到 2 毫秒。真正拿不准的少数请求，才进入语义层，由大模型做判官。</a:t>
            </a:r>
          </a:p>
          <a:p>
            <a:r>
              <a:t>这里有一个设计我特别想讲：语义层的判官模型，恰到好处地用上了公司私有部署的 Qwen3.6。分类这件事本身不消耗任何互联网模型的 API 额度——公司的私有模型由此成为整个调度体系的智能底座，全部模型资产被串联成一个有机整体。私有部署的边际成本为零，"舍不舍得调"的问题天然不存在。</a:t>
            </a:r>
          </a:p>
          <a:p>
            <a:r>
              <a:t>分类的结果映射到四个档位：背景请求去 MiniMax2.5，常规编码去 MiniMax2.7，复杂分析去 DeepSeek-v4-flash，只有真正的架构设计和严格推理，才动用 GLM-5.2。这就把第一章说的"专家号拼手速"变成了"按需分配"——限额流向真正需要它的任务，而不是手快的人。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讲稿（约 90 秒）：</a:t>
            </a:r>
          </a:p>
          <a:p>
            <a:r>
              <a:t>分类准确性是这个路由的生命线，我们用两层机制保障。</a:t>
            </a:r>
          </a:p>
          <a:p>
            <a:r>
              <a:t>第一层是设计原则：升档必须由具体信号驱动，不允许"拿不准就往高档打"；错误代价是非对称的——把简单任务判复杂只是多花钱，把复杂任务判简单是质量事故，所以拿不准时偏向后悔小的方向。</a:t>
            </a:r>
          </a:p>
          <a:p>
            <a:r>
              <a:t>第二层是自我反馈闭环：每一次路由决策都落日志，我定期分析分布有没有异常。举个真实例子：上线初期我通过 165 条日志发现一个系统性缺陷——三处"拿不准就升档"的逻辑叠加，导致几乎所有流量都被打到最高档，路由器形同虚设。修复之后，我建立了 53 条中英文回归测试作为门禁，之后每一次改动都自动校验。所以这套分类逻辑里没有一条规则是拍脑袋定的，背后都有日志证据或测试用例。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讲稿（约 100 秒）：</a:t>
            </a:r>
          </a:p>
          <a:p>
            <a:r>
              <a:t>项目已真实上线运行。前后对比看模型分布：左边是 7 月，我的消耗百分之百扎堆在 DeepSeek 和 MiniMax-M3 上——这是全公司使用模式的缩影。右边是接入路由后本周的数据：请求自然分布到了四个档位，背景请求去 M2.5，常规编码去 M2.7，复杂任务去 DeepSeek-flash。</a:t>
            </a:r>
          </a:p>
          <a:p>
            <a:r>
              <a:t>有评委可能注意到 GLM 本周没有出现——原因很现实：限额太抢手，没抢到。这恰恰反过来证明了这个项目的价值：连已经接入路由的我都抢不到 GLM，说明稀缺限额正在被先到先得的方式消耗。如果全公司统一走路由集中调度，GLM 就只会流向真正的推理任务。</a:t>
            </a:r>
          </a:p>
          <a:p>
            <a:r>
              <a:t>量化收益方面，路由大屏用反事实口径实测：同一批请求按原高档模型重定价需 1.14 元，实际 0.58 元，节省 49.4%——同期同批请求对比，剔除了工作量差异。而体验上，模型分布铺开的同时，日常开发没有任何体感差异。</a:t>
            </a:r>
          </a:p>
          <a:p>
            <a:r>
              <a:t>回到开头立的两条标准：响应时间——路由引入的延迟实测不到 1 毫秒，体感零差异；复杂任务零欠档——53 条回归测试锁定分类行为，上线以来无欠档事故。</a:t>
            </a:r>
          </a:p>
          <a:p>
            <a:r>
              <a:t>路由服务目前本地部署运行，实时大屏、路由日志、代码仓全部可供评委查验。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讲稿（约 60 秒）：</a:t>
            </a:r>
          </a:p>
          <a:p>
            <a:r>
              <a:t>评审要点里有一条"效果可否复现验证"，这一页专门回应。每一次路由决策都落日志，档位、置信度、耗时全量可查；实时大屏现场可演示（本地部署）；53 条中英文回归测试构成门禁，任何改动导致分类劣化都会立刻红灯；代码仓的 commit 历史和设计评审文档全程留痕。欢迎各位评委回溯审计。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讲稿（约 90 秒）：</a:t>
            </a:r>
          </a:p>
          <a:p>
            <a:r>
              <a:t>这个项目的代码接近百分之百由 AI 生成，但它不是"放养式"的 Vibe Coding。我在开发过程中沉淀了一套工作流框架 NexusRhythm，已开源。</a:t>
            </a:r>
          </a:p>
          <a:p>
            <a:r>
              <a:t>核心是让 AI 在纪律内跑：每个阶段必须先写设计文档和失败测试，AI 才能动手实现；提交前强制过类型检查、构建、全量测试三道门禁；架构设计、代码评审、债务清理由不同的智能体角色分工，互相制衡；每次踩的坑会被蒸馏成规则文件，AI 下次会话自动加载——犯过的错不犯第二次。</a:t>
            </a:r>
          </a:p>
          <a:p>
            <a:r>
              <a:t>人的角色从"写代码"变成了"定方向、审设计、守门禁"。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讲稿（约 90 秒）：</a:t>
            </a:r>
          </a:p>
          <a:p>
            <a:r>
              <a:t>这个项目的代码接近百分之百由 AI 生成，但它不是"放养式"的 Vibe Coding。我在开发过程中沉淀了一套工作流框架 NexusRhythm，已开源。</a:t>
            </a:r>
          </a:p>
          <a:p>
            <a:r>
              <a:t>核心是让 AI 在纪律内跑：每个阶段必须先写设计文档和失败测试，AI 才能动手实现；提交前强制过类型检查、构建、全量测试三道门禁；架构设计、代码评审、债务清理由不同的智能体角色分工，互相制衡；每次踩的坑会被蒸馏成规则文件，AI 下次会话自动加载——犯过的错不犯第二次。</a:t>
            </a:r>
          </a:p>
          <a:p>
            <a:r>
              <a:t>人的角色从"写代码"变成了"定方向、审设计、守门禁"。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讲稿（约 60 秒）：</a:t>
            </a:r>
          </a:p>
          <a:p>
            <a:r>
              <a:t>量化一下 AI 的使用。工具链是 Claude Code 加 NexusRhythm 的自定义命令、多智能体和规则体系。AI 产出占比接近百分之百——代码、测试、文档全部由 AI 生成，人的角色收敛为四件事：定义需求、架构决策、评审设计、最终验收。</a:t>
            </a:r>
          </a:p>
          <a:p>
            <a:r>
              <a:t>举个真实例子：项目早期 AI 曾一口气写出一个 2500 多行的"15 维评分器"，看上去很唬人，但评审后发现它不符合线上链路的实际需求，最终没有接入，换成了更朴素但可控的三层级联方案。这个决策完整留痕在设计评审文档里——AI 负责产能，人负责判断。</a:t>
            </a:r>
          </a:p>
          <a:p>
            <a:r>
              <a:t>还有一个有意思的事实：这个项目后期就是用"它自己路由的请求"开发出来的——8 月的路由数据里，就包含着开发它自己的流量。</a:t>
            </a:r>
          </a:p>
          <a:p>
            <a:r>
              <a:t>（注：Token 消耗量不在 PPT 体现——多厂商、外网开发，无法准确统计，不讲无法佐证的数字。）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讲稿（约 60 秒）：</a:t>
            </a:r>
          </a:p>
          <a:p>
            <a:r>
              <a:t>创新点讲三个。第一，中英双语的分层级联分类，亚毫秒级、零额外 token 开销——传统方案用云端 embedding 做分类，慢两个数量级，而且每次分类本身还要花钱。第二，代价非对称的决策设计：判错的代价是不对称的，简单判复杂只是多花钱，复杂判简单是质量事故，所以升档必须由具体信号驱动。第三，反事实基线计价——"节省"不是估算，是同一批请求按原模型逐笔重定价，每一分钱都可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讲稿（约 90 秒）：</a:t>
            </a:r>
          </a:p>
          <a:p>
            <a:r>
              <a:t>这个赛道不是我凭空想象的，商业上已经验证过了——OpenRouter 的自动路由引擎最早就采购自 Not Diamond，而 Not Diamond 按路由 token 收费，每百万 token 5 美分，官方自曝路由本身要加 100 到 150 毫秒延迟。</a:t>
            </a:r>
          </a:p>
          <a:p>
            <a:r>
              <a:t>但对我们的场景，它们都不合适：纯 SaaS 进不了内网，按 token 收费意味着"为了省钱先花钱"。开源侧，LMSYS 的 RouteLLM 从 2024 年就停更了；vLLM 社区的 Semantic Router 很活跃，但要部署 K8s、Envoy 加整套推理栈，太重了。而 LiteLLM、new-api 这类网关做的是负载均衡和计费，根本不看请求内容——这正是 NexusRouter 部署在 new-api 前面的合理性：一个管"该用哪档模型"，一个管"配额计费"，是互补不是竞争。</a:t>
            </a:r>
          </a:p>
          <a:p>
            <a:r>
              <a:t>NexusRouter 占的位置是：分类零成本、亚毫秒、私有化、双协议、为 new-api 生态原生设计。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讲稿（约 60 秒）：</a:t>
            </a:r>
          </a:p>
          <a:p>
            <a:r>
              <a:t>可复制性方面，项目是双交付物。产品 npm 一行命令安装、Docker 一键部署，服务侧部署方案连 nginx 配置都是现成的；方法论 NexusRhythm 可注入任何项目。</a:t>
            </a:r>
          </a:p>
          <a:p>
            <a:r>
              <a:t>推广路径上，前两步已经完成：我个人试点跑通了数据，7 人的小团队也已经部署测试。下一步是公司级服务侧部署——挂在平台前面，全员无感接入，旗舰限额按需分配。而且 new-api 是行业广泛使用的开源网关，这套方案不止适合我们公司，任何用 new-api 或 one-api 的团队都能直接复用——它具备作为产品向外推广的潜力。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讲稿（约 50 秒）：</a:t>
            </a:r>
          </a:p>
          <a:p>
            <a:r>
              <a:t>总结一句话：用不到 1 毫秒的本地调度，换公司模型资产的整体提效，已验证的节省是 49.4%。</a:t>
            </a:r>
          </a:p>
          <a:p>
            <a:r>
              <a:t>展望上，近期会做任务级路由记忆和可观测性增强。更远一步，我想点一个方向：路由层是公司 AI 流量的天然卡口，未来可以在这个位置生长出大模型审计、敏感请求识别与阻断能力——让敏感代码定向走私有模型、数据不出内网。这和公司的安全主业是同一个方向。</a:t>
            </a:r>
          </a:p>
          <a:p>
            <a:r>
              <a:t>我的汇报到此，谢谢各位评委，欢迎审计代码、验证数据。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6015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600" b="1" i="0">
                <a:solidFill>
                  <a:srgbClr val="9E1B32"/>
                </a:solidFill>
                <a:latin typeface="微软雅黑"/>
                <a:ea typeface="微软雅黑"/>
              </a:rPr>
              <a:t>NexusRouter —— 让每一次 AI 调用都落在合适的模型上</a:t>
            </a:r>
            <a:endParaRPr sz="3600" b="1" i="0">
              <a:solidFill>
                <a:srgbClr val="9E1B32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56048" y="3520440"/>
            <a:ext cx="2286000" cy="317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000" b="0" i="0">
                <a:solidFill>
                  <a:srgbClr val="333333"/>
                </a:solidFill>
                <a:latin typeface="微软雅黑"/>
                <a:ea typeface="微软雅黑"/>
              </a:rPr>
              <a:t>面向中孚互联网大模型平台（new-api）的智能模型调度层</a:t>
            </a:r>
            <a:endParaRPr sz="20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80644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微软雅黑"/>
                <a:ea typeface="微软雅黑"/>
              </a:rPr>
              <a:t>"赛马争先"AI 创意大赛结项评审  |  端点产品研发中心</a:t>
            </a:r>
            <a:endParaRPr sz="1200" b="0" i="0">
              <a:solidFill>
                <a:srgbClr val="666666"/>
              </a:solidFill>
              <a:latin typeface="微软雅黑"/>
              <a:ea typeface="微软雅黑"/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微软雅黑"/>
                <a:ea typeface="微软雅黑"/>
              </a:rPr>
              <a:t>汇报人：陈锡光  |  项目成员：陈锡光、徐宝酉、钟凯华  |  2026-08</a:t>
            </a:r>
            <a:endParaRPr sz="120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82296" cy="4572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10972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 i="0">
                <a:solidFill>
                  <a:srgbClr val="333333"/>
                </a:solidFill>
                <a:latin typeface="微软雅黑"/>
                <a:ea typeface="微软雅黑"/>
              </a:rPr>
              <a:t>痛点：模型很全，但缺一个"分诊台"</a:t>
            </a:r>
            <a:endParaRPr sz="25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83112" cy="279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2 / 14</a:t>
            </a:r>
            <a:endParaRPr sz="100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83112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486400"/>
                <a:gridCol w="3319272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现象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现状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后果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</a:tr>
              <a:tr h="1371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9E1B32"/>
                          </a:solidFill>
                          <a:latin typeface="微软雅黑"/>
                          <a:ea typeface="微软雅黑"/>
                        </a:rPr>
                        <a:t>感冒也挂专家号</a:t>
                      </a:r>
                      <a:endParaRPr sz="1400" b="1" i="0">
                        <a:solidFill>
                          <a:srgbClr val="9E1B32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AI 编程 Agent 每分钟自动产生大量背景请求（读文件、确认状态、工具回调），复杂度天差地别，却 100% 打给同一个高档模型</a:t>
                      </a:r>
                      <a:endParaRPr sz="13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隐性浪费随使用规模持续放大</a:t>
                      </a:r>
                      <a:endParaRPr sz="13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9E1B32"/>
                          </a:solidFill>
                          <a:latin typeface="微软雅黑"/>
                          <a:ea typeface="微软雅黑"/>
                        </a:rPr>
                        <a:t>专家号全靠拼手速</a:t>
                      </a:r>
                      <a:endParaRPr sz="1400" b="1" i="0">
                        <a:solidFill>
                          <a:srgbClr val="9E1B32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GLM-5.2/5.1 有日/周限额，先到先得</a:t>
                      </a:r>
                      <a:endParaRPr sz="13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抢到的不一定是真正需要的任务，复杂任务可能被迫降级</a:t>
                      </a:r>
                      <a:endParaRPr sz="13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9E1B32"/>
                          </a:solidFill>
                          <a:latin typeface="微软雅黑"/>
                          <a:ea typeface="微软雅黑"/>
                        </a:rPr>
                        <a:t>一个科室排长队，
隔壁门可罗雀</a:t>
                      </a:r>
                      <a:endParaRPr sz="1400" b="1" i="0">
                        <a:solidFill>
                          <a:srgbClr val="9E1B32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请求凭习惯集中在 DeepSeek-v4-flash / MiniMax3</a:t>
                      </a:r>
                      <a:endParaRPr sz="13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模型矩阵的价值没有充分释放</a:t>
                      </a:r>
                      <a:endParaRPr sz="13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715000"/>
            <a:ext cx="11183112" cy="64008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9E1B32"/>
                </a:solidFill>
                <a:latin typeface="微软雅黑"/>
                <a:ea typeface="微软雅黑"/>
              </a:rPr>
              <a:t>医院不缺科室，缺的是分诊台</a:t>
            </a:r>
            <a:r>
              <a:rPr sz="1500" b="1" i="0">
                <a:solidFill>
                  <a:srgbClr val="333333"/>
                </a:solidFill>
                <a:latin typeface="微软雅黑"/>
                <a:ea typeface="微软雅黑"/>
              </a:rPr>
              <a:t>——模型矩阵不缺模型，缺的是调度员。</a:t>
            </a:r>
            <a:endParaRPr sz="15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82296" cy="4572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10972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 i="0">
                <a:solidFill>
                  <a:srgbClr val="333333"/>
                </a:solidFill>
                <a:latin typeface="微软雅黑"/>
                <a:ea typeface="微软雅黑"/>
              </a:rPr>
              <a:t>NexusRouter：部署在中孚互联网大模型平台前的智能调度层</a:t>
            </a:r>
            <a:endParaRPr sz="25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83112" cy="279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3 / 14</a:t>
            </a:r>
            <a:endParaRPr sz="100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9E1B32"/>
                </a:solidFill>
                <a:latin typeface="微软雅黑"/>
                <a:ea typeface="微软雅黑"/>
              </a:rPr>
              <a:t>调用链路</a:t>
            </a:r>
            <a:endParaRPr sz="1300" b="1" i="0">
              <a:solidFill>
                <a:srgbClr val="9E1B32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4206240" cy="96012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AI 编程 Agent
Claude Code / Cursor / Codex</a:t>
            </a:r>
            <a:endParaRPr sz="12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2331720" y="2514600"/>
            <a:ext cx="548640" cy="256032"/>
          </a:xfrm>
          <a:prstGeom prst="down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770632"/>
            <a:ext cx="4206240" cy="960120"/>
          </a:xfrm>
          <a:prstGeom prst="roundRect">
            <a:avLst/>
          </a:prstGeom>
          <a:solidFill>
            <a:srgbClr val="9E1B32"/>
          </a:solidFill>
          <a:ln w="12700">
            <a:solidFill>
              <a:srgbClr val="7A1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NexusRouter 智能调度层
复杂度分类 · 按档路由</a:t>
            </a:r>
            <a:endParaRPr sz="1200" b="1" i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2331720" y="3730752"/>
            <a:ext cx="548640" cy="256032"/>
          </a:xfrm>
          <a:prstGeom prst="down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986784"/>
            <a:ext cx="4206240" cy="96012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中孚互联网大模型平台（new-api）
配额 · 计费 · 模型网关</a:t>
            </a:r>
            <a:endParaRPr sz="12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2331720" y="4946904"/>
            <a:ext cx="548640" cy="256032"/>
          </a:xfrm>
          <a:prstGeom prst="down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5202936"/>
            <a:ext cx="4206240" cy="96012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模型矩阵
M2.5 / M2.7 / DS-flash / GLM / 私有 Qwen</a:t>
            </a:r>
            <a:endParaRPr sz="12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20640" y="1143000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9E1B32"/>
                </a:solidFill>
                <a:latin typeface="微软雅黑"/>
                <a:ea typeface="微软雅黑"/>
              </a:rPr>
              <a:t>三个零 + 两个自由</a:t>
            </a:r>
            <a:endParaRPr sz="1300" b="1" i="0">
              <a:solidFill>
                <a:srgbClr val="9E1B32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20640" y="1554480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● 零学习成本：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baseurl 指向路由、模型填 auto 即接入；个人配额、计费不变（API Key 透传）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20640" y="2487168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● 零接入改造：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OpenAI / Anthropic 双协议，Claude Code、Cursor、Codex 即插即用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20640" y="3419856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● 零安装门槛：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npm 一行命令安装（AI Agent 用户本就有 node/npm 环境）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20640" y="4352544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● 模型选择自由：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auto = 走智能路由；填具体模型名 = 直连该模型、旁路分类。路由是可选项不是强制绑定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20640" y="5285231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● 部署方式自由：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个人可客户端本地部署；公司场景推荐服务侧集中部署（nginx + NexusRouter + 平台）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82296" cy="4572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10972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 i="0">
                <a:solidFill>
                  <a:srgbClr val="333333"/>
                </a:solidFill>
                <a:latin typeface="微软雅黑"/>
                <a:ea typeface="微软雅黑"/>
              </a:rPr>
              <a:t>先立标准：路由怎样才算"不影响工作"？</a:t>
            </a:r>
            <a:endParaRPr sz="25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83112" cy="279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4 / 14</a:t>
            </a:r>
            <a:endParaRPr sz="100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118311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394960"/>
                <a:gridCol w="3685032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标准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为什么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9E1B32"/>
                          </a:solidFill>
                          <a:latin typeface="微软雅黑"/>
                          <a:ea typeface="微软雅黑"/>
                        </a:rPr>
                        <a:t>① 响应时间可控</a:t>
                      </a:r>
                      <a:endParaRPr sz="1400" b="1" i="0">
                        <a:solidFill>
                          <a:srgbClr val="9E1B32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分类串行在转发之前，延迟 1:1 叠加到首字时间；路由前后体感必须零差异</a:t>
                      </a:r>
                      <a:endParaRPr sz="13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路由是每天高频使用的基础设施，慢一点点都会被立刻感知</a:t>
                      </a:r>
                      <a:endParaRPr sz="13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9E1B32"/>
                          </a:solidFill>
                          <a:latin typeface="微软雅黑"/>
                          <a:ea typeface="微软雅黑"/>
                        </a:rPr>
                        <a:t>② 复杂任务零欠档</a:t>
                      </a:r>
                      <a:endParaRPr sz="1400" b="1" i="0">
                        <a:solidFill>
                          <a:srgbClr val="9E1B32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判错代价不对称：欠档（复杂→低档）= 质量事故；过档（简单→高档）= 静默多花一点钱</a:t>
                      </a:r>
                      <a:endParaRPr sz="13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宁可过档，不可欠档</a:t>
                      </a:r>
                      <a:endParaRPr sz="13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029200"/>
            <a:ext cx="11183112" cy="64008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333333"/>
                </a:solidFill>
                <a:latin typeface="微软雅黑"/>
                <a:ea typeface="微软雅黑"/>
              </a:rPr>
              <a:t>这两条标准，决定了后面所有设计取舍。</a:t>
            </a:r>
            <a:endParaRPr sz="15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82296" cy="4572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10972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 i="0">
                <a:solidFill>
                  <a:srgbClr val="333333"/>
                </a:solidFill>
                <a:latin typeface="微软雅黑"/>
                <a:ea typeface="微软雅黑"/>
              </a:rPr>
              <a:t>毫秒级分类，让每个模型各得其所</a:t>
            </a:r>
            <a:endParaRPr sz="25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83112" cy="279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5 / 14</a:t>
            </a:r>
            <a:endParaRPr sz="100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9E1B32"/>
                </a:solidFill>
                <a:latin typeface="微软雅黑"/>
                <a:ea typeface="微软雅黑"/>
              </a:rPr>
              <a:t>三级分类机制</a:t>
            </a:r>
            <a:endParaRPr sz="1300" b="1" i="0">
              <a:solidFill>
                <a:srgbClr val="9E1B32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44752"/>
          <a:ext cx="11183112" cy="20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120640"/>
                <a:gridCol w="1371600"/>
                <a:gridCol w="3136392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层级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机制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耗时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9E1B32"/>
                          </a:solidFill>
                          <a:latin typeface="微软雅黑"/>
                          <a:ea typeface="微软雅黑"/>
                        </a:rPr>
                        <a:t>L0 规则层</a:t>
                      </a:r>
                      <a:endParaRPr sz="1250" b="1" i="0">
                        <a:solidFill>
                          <a:srgbClr val="9E1B32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中英双语高精度规则短路（问候/确认/工具回调等）</a:t>
                      </a:r>
                      <a:endParaRPr sz="125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~0.05ms</a:t>
                      </a:r>
                      <a:endParaRPr sz="125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大量背景请求直接识别</a:t>
                      </a:r>
                      <a:endParaRPr sz="125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9E1B32"/>
                          </a:solidFill>
                          <a:latin typeface="微软雅黑"/>
                          <a:ea typeface="微软雅黑"/>
                        </a:rPr>
                        <a:t>L1 启发式层</a:t>
                      </a:r>
                      <a:endParaRPr sz="1250" b="1" i="0">
                        <a:solidFill>
                          <a:srgbClr val="9E1B32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信号驱动的档位判定（代码块、推理词、任务规模等）</a:t>
                      </a:r>
                      <a:endParaRPr sz="125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&lt;</a:t>
                      </a:r>
                      <a:r>
                        <a:rPr lang="en-US"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ms</a:t>
                      </a:r>
                      <a:endParaRPr sz="125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升档必须由具体信号驱动</a:t>
                      </a:r>
                      <a:endParaRPr sz="125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9E1B32"/>
                          </a:solidFill>
                          <a:latin typeface="微软雅黑"/>
                          <a:ea typeface="微软雅黑"/>
                        </a:rPr>
                        <a:t>L2 语义层</a:t>
                      </a:r>
                      <a:endParaRPr sz="1250" b="1" i="0">
                        <a:solidFill>
                          <a:srgbClr val="9E1B32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调用公司私有部署的 Qwen3.6 做语义判官</a:t>
                      </a:r>
                      <a:endParaRPr sz="125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~百毫秒</a:t>
                      </a:r>
                      <a:endParaRPr sz="125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 API 成本，疑难请求兜底</a:t>
                      </a:r>
                      <a:endParaRPr sz="125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65760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9E1B32"/>
                </a:solidFill>
                <a:latin typeface="微软雅黑"/>
                <a:ea typeface="微软雅黑"/>
              </a:rPr>
              <a:t>四级调度映射表</a:t>
            </a:r>
            <a:endParaRPr sz="1300" b="1" i="0">
              <a:solidFill>
                <a:srgbClr val="9E1B32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986784"/>
          <a:ext cx="11183112" cy="2313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6428232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档位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路由目标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承接任务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9E1B32"/>
                          </a:solidFill>
                          <a:latin typeface="微软雅黑"/>
                          <a:ea typeface="微软雅黑"/>
                        </a:rPr>
                        <a:t>SIMPLE</a:t>
                      </a:r>
                      <a:endParaRPr sz="1250" b="1" i="0">
                        <a:solidFill>
                          <a:srgbClr val="9E1B32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MiniMax2.5</a:t>
                      </a:r>
                      <a:endParaRPr sz="125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问候、确认、状态查询等背景请求</a:t>
                      </a:r>
                      <a:endParaRPr sz="125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9E1B32"/>
                          </a:solidFill>
                          <a:latin typeface="微软雅黑"/>
                          <a:ea typeface="微软雅黑"/>
                        </a:rPr>
                        <a:t>MEDIUM</a:t>
                      </a:r>
                      <a:endParaRPr sz="1250" b="1" i="0">
                        <a:solidFill>
                          <a:srgbClr val="9E1B32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MiniMax2.7</a:t>
                      </a:r>
                      <a:endParaRPr sz="125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常规编码、文件修改</a:t>
                      </a:r>
                      <a:endParaRPr sz="125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9E1B32"/>
                          </a:solidFill>
                          <a:latin typeface="微软雅黑"/>
                          <a:ea typeface="微软雅黑"/>
                        </a:rPr>
                        <a:t>COMPLEX</a:t>
                      </a:r>
                      <a:endParaRPr sz="1250" b="1" i="0">
                        <a:solidFill>
                          <a:srgbClr val="9E1B32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US"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MiniMax3/</a:t>
                      </a: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DeepSeek-v4-flash</a:t>
                      </a:r>
                      <a:endParaRPr sz="125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复杂分析、多步任务</a:t>
                      </a:r>
                      <a:endParaRPr sz="125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9E1B32"/>
                          </a:solidFill>
                          <a:latin typeface="微软雅黑"/>
                          <a:ea typeface="微软雅黑"/>
                        </a:rPr>
                        <a:t>REASONING</a:t>
                      </a:r>
                      <a:endParaRPr sz="1250" b="1" i="0">
                        <a:solidFill>
                          <a:srgbClr val="9E1B32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GLM-5.2</a:t>
                      </a:r>
                      <a:r>
                        <a:rPr lang="en-US"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/DeepSeek-v4-</a:t>
                      </a:r>
                      <a:r>
                        <a:rPr lang="en-US"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pro</a:t>
                      </a:r>
                      <a:endParaRPr lang="en-US" sz="125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架构设计、严格推理——旗舰限额只给真正需要的任务</a:t>
                      </a:r>
                      <a:endParaRPr sz="125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82296" cy="4572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10972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 i="0">
                <a:solidFill>
                  <a:srgbClr val="333333"/>
                </a:solidFill>
                <a:latin typeface="微软雅黑"/>
                <a:ea typeface="微软雅黑"/>
              </a:rPr>
              <a:t>分类准不准，靠什么保障？</a:t>
            </a:r>
            <a:endParaRPr sz="25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83112" cy="279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6 / 14</a:t>
            </a:r>
            <a:endParaRPr sz="100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9E1B32"/>
                </a:solidFill>
                <a:latin typeface="微软雅黑"/>
                <a:ea typeface="微软雅黑"/>
              </a:rPr>
              <a:t>设计原则三条</a:t>
            </a:r>
            <a:endParaRPr sz="1300" b="1" i="0">
              <a:solidFill>
                <a:srgbClr val="9E1B32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3611880" cy="12344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信号驱动</a:t>
            </a:r>
            <a:endParaRPr sz="1400" b="1" i="0">
              <a:solidFill>
                <a:srgbClr val="9E1B32"/>
              </a:solidFill>
              <a:latin typeface="微软雅黑"/>
              <a:ea typeface="微软雅黑"/>
            </a:endParaRP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升档必须由具体信号驱动（代码块、推理词、任务规模），不允许“拿不准就升档”</a:t>
            </a:r>
            <a:endParaRPr sz="11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88536" y="1463040"/>
            <a:ext cx="3611880" cy="12344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代价非对称</a:t>
            </a:r>
            <a:endParaRPr sz="1400" b="1" i="0">
              <a:solidFill>
                <a:srgbClr val="9E1B32"/>
              </a:solidFill>
              <a:latin typeface="微软雅黑"/>
              <a:ea typeface="微软雅黑"/>
            </a:endParaRP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错误偏向后悔小的方向——宁可多花钱，不让复杂任务降级</a:t>
            </a:r>
            <a:endParaRPr sz="11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74151" y="1463040"/>
            <a:ext cx="3611880" cy="12344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中英双语</a:t>
            </a:r>
            <a:endParaRPr sz="1400" b="1" i="0">
              <a:solidFill>
                <a:srgbClr val="9E1B32"/>
              </a:solidFill>
              <a:latin typeface="微软雅黑"/>
              <a:ea typeface="微软雅黑"/>
            </a:endParaRP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中文请求与英文同权处理（CJK 词数折算、中文关键词双通路）</a:t>
            </a:r>
            <a:endParaRPr sz="11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9E1B32"/>
                </a:solidFill>
                <a:latin typeface="微软雅黑"/>
                <a:ea typeface="微软雅黑"/>
              </a:rPr>
              <a:t>自我反馈闭环</a:t>
            </a:r>
            <a:endParaRPr sz="1300" b="1" i="0">
              <a:solidFill>
                <a:srgbClr val="9E1B32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246120"/>
            <a:ext cx="24871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全量路由日志
档位/层级/置信度/耗时</a:t>
            </a:r>
            <a:endParaRPr sz="11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3035808" y="3566160"/>
            <a:ext cx="320040" cy="256032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01568" y="3246120"/>
            <a:ext cx="24871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定期分析
分布与偏差</a:t>
            </a:r>
            <a:endParaRPr sz="11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5934456" y="3566160"/>
            <a:ext cx="320040" cy="256032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0216" y="3246120"/>
            <a:ext cx="24871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发现系统性偏差</a:t>
            </a:r>
            <a:endParaRPr sz="11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8833104" y="3566160"/>
            <a:ext cx="320040" cy="256032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98864" y="3246120"/>
            <a:ext cx="24871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修复 + 53 条中英
回归测试门禁</a:t>
            </a:r>
            <a:endParaRPr sz="11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10607040" y="4224528"/>
            <a:ext cx="457200" cy="320040"/>
          </a:xfrm>
          <a:prstGeom prst="down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4224528"/>
            <a:ext cx="7498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  <a:ea typeface="微软雅黑"/>
              </a:rPr>
              <a:t>↩ 回到日志验证，形成闭环</a:t>
            </a:r>
            <a:endParaRPr sz="110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4709160"/>
            <a:ext cx="11183112" cy="160020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9E1B32"/>
                </a:solidFill>
                <a:latin typeface="微软雅黑"/>
                <a:ea typeface="微软雅黑"/>
              </a:rPr>
              <a:t>实例 D-002：</a:t>
            </a: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通过 165 条真实日志发现“无条件升档棘轮”缺陷——流量集体打到最高档、路由形同虚设 → 修复决策结构 → 建立 53 条回归测试门禁，此后每次改动自动校验。</a:t>
            </a:r>
            <a:endParaRPr sz="1250" b="0" i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33333"/>
                </a:solidFill>
                <a:latin typeface="微软雅黑"/>
                <a:ea typeface="微软雅黑"/>
              </a:rPr>
              <a:t>每条分类规则背后都有日志证据或测试用例。</a:t>
            </a:r>
            <a:endParaRPr sz="13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82296" cy="4572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10972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 i="0">
                <a:solidFill>
                  <a:srgbClr val="333333"/>
                </a:solidFill>
                <a:latin typeface="微软雅黑"/>
                <a:ea typeface="微软雅黑"/>
              </a:rPr>
              <a:t>已上线运行：流量从"扎堆"到"各归其位"</a:t>
            </a:r>
            <a:endParaRPr sz="25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83112" cy="279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7 / 14</a:t>
            </a:r>
            <a:endParaRPr sz="100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9E1B32"/>
                </a:solidFill>
                <a:latin typeface="微软雅黑"/>
                <a:ea typeface="微软雅黑"/>
              </a:rPr>
              <a:t>使用前（7月）</a:t>
            </a: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</a:rPr>
              <a:t>  消耗 100% 扎堆 DeepSeek-V4-Pro/Flash 与 MiniMax-M3</a:t>
            </a:r>
            <a:endParaRPr sz="11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55080" y="111556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9E1B32"/>
                </a:solidFill>
                <a:latin typeface="微软雅黑"/>
                <a:ea typeface="微软雅黑"/>
              </a:rPr>
              <a:t>使用后（8.20-8.26）</a:t>
            </a: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</a:rPr>
              <a:t>  自然分布到 M2.5 / M2.7 / M3 / DS-flash 四档</a:t>
            </a:r>
            <a:endParaRPr sz="11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5440680" cy="246888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524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1000" b="0" i="0">
              <a:solidFill>
                <a:srgbClr val="80808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440680" cy="246888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1524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1000" b="0" i="0">
              <a:solidFill>
                <a:srgbClr val="80808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4041648"/>
            <a:ext cx="111831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1">
                <a:solidFill>
                  <a:srgbClr val="666666"/>
                </a:solidFill>
                <a:latin typeface="微软雅黑"/>
                <a:ea typeface="微软雅黑"/>
              </a:rPr>
              <a:t>GLM 本周未触达——限额被抢光，恰恰印证：没有调度时，稀缺限额被先到先得的低价值请求消耗。</a:t>
            </a:r>
            <a:endParaRPr sz="1150" b="0" i="1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4572000"/>
            <a:ext cx="11183112" cy="7772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9E1B32"/>
                </a:solidFill>
                <a:latin typeface="微软雅黑"/>
                <a:ea typeface="微软雅黑"/>
              </a:rPr>
              <a:t>量化收益（同期反事实口径）：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同一批请求若全走原高档模型需 ¥1.14，实际 ¥0.58，</a:t>
            </a:r>
            <a:r>
              <a:rPr sz="1600" b="1" i="0">
                <a:solidFill>
                  <a:srgbClr val="9E1B32"/>
                </a:solidFill>
                <a:latin typeface="微软雅黑"/>
                <a:ea typeface="微软雅黑"/>
              </a:rPr>
              <a:t>节省 49.4%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（非跨周期对比，剔除工作量差异）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5532120"/>
            <a:ext cx="111831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9E1B32"/>
                </a:solidFill>
                <a:latin typeface="微软雅黑"/>
                <a:ea typeface="微软雅黑"/>
              </a:rPr>
              <a:t>体验：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日常开发无任何体感差异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9E1B32"/>
                </a:solidFill>
                <a:latin typeface="微软雅黑"/>
                <a:ea typeface="微软雅黑"/>
              </a:rPr>
              <a:t>交付物：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✅ 本地部署运行中（实时大屏现场可演示）  ✅ 路由日志  ✅ 代码仓与提交记录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82296" cy="4572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10972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 i="0">
                <a:solidFill>
                  <a:srgbClr val="333333"/>
                </a:solidFill>
                <a:latin typeface="微软雅黑"/>
                <a:ea typeface="微软雅黑"/>
              </a:rPr>
              <a:t>效果不是写出来的，是可以回溯验证的</a:t>
            </a:r>
            <a:endParaRPr sz="25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83112" cy="279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8 / 14</a:t>
            </a:r>
            <a:endParaRPr sz="100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440680" cy="23774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9E1B32"/>
                </a:solidFill>
                <a:latin typeface="微软雅黑"/>
                <a:ea typeface="微软雅黑"/>
              </a:rPr>
              <a:t>路由日志</a:t>
            </a:r>
            <a:endParaRPr sz="1600" b="1" i="0">
              <a:solidFill>
                <a:srgbClr val="9E1B32"/>
              </a:solidFill>
              <a:latin typeface="微软雅黑"/>
              <a:ea typeface="微软雅黑"/>
            </a:endParaRP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每次决策记录档位/层级/置信度/耗时，全量落盘可查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3977639"/>
            <a:ext cx="5440680" cy="23774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9E1B32"/>
                </a:solidFill>
                <a:latin typeface="微软雅黑"/>
                <a:ea typeface="微软雅黑"/>
              </a:rPr>
              <a:t>5</a:t>
            </a:r>
            <a:r>
              <a:rPr lang="en-US" sz="1600" b="1" i="0">
                <a:solidFill>
                  <a:srgbClr val="9E1B32"/>
                </a:solidFill>
                <a:latin typeface="微软雅黑"/>
                <a:ea typeface="微软雅黑"/>
              </a:rPr>
              <a:t>6</a:t>
            </a:r>
            <a:r>
              <a:rPr sz="1600" b="1" i="0">
                <a:solidFill>
                  <a:srgbClr val="9E1B32"/>
                </a:solidFill>
                <a:latin typeface="微软雅黑"/>
                <a:ea typeface="微软雅黑"/>
              </a:rPr>
              <a:t>3 条回归测试门禁</a:t>
            </a:r>
            <a:endParaRPr sz="1600" b="1" i="0">
              <a:solidFill>
                <a:srgbClr val="9E1B32"/>
              </a:solidFill>
              <a:latin typeface="微软雅黑"/>
              <a:ea typeface="微软雅黑"/>
            </a:endParaRP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每次改动自动校验分类行为不劣化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63640" y="3977639"/>
            <a:ext cx="5440680" cy="23774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9E1B32"/>
                </a:solidFill>
                <a:latin typeface="微软雅黑"/>
                <a:ea typeface="微软雅黑"/>
              </a:rPr>
              <a:t>完整审计链</a:t>
            </a:r>
            <a:endParaRPr sz="1600" b="1" i="0">
              <a:solidFill>
                <a:srgbClr val="9E1B32"/>
              </a:solidFill>
              <a:latin typeface="微软雅黑"/>
              <a:ea typeface="微软雅黑"/>
            </a:endParaRP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代码仓 commit 历史 + 设计评审文档全程留痕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440680" cy="237744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524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1000" b="0" i="0">
              <a:solidFill>
                <a:srgbClr val="80808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82296" cy="4572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10972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 i="0">
                <a:solidFill>
                  <a:srgbClr val="333333"/>
                </a:solidFill>
                <a:latin typeface="微软雅黑"/>
                <a:ea typeface="微软雅黑"/>
              </a:rPr>
              <a:t>AI 写了 ~100% 的代码，但每一行都过了"门禁"</a:t>
            </a:r>
            <a:endParaRPr sz="25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83112" cy="279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9 / 14</a:t>
            </a:r>
            <a:endParaRPr sz="100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8311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本项目全程重度 Vibe Coding，并从中沉淀出开源工作流框架 </a:t>
            </a: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NexusRhythm</a:t>
            </a:r>
            <a:r>
              <a:rPr sz="1250" b="0" i="0">
                <a:solidFill>
                  <a:srgbClr val="666666"/>
                </a:solidFill>
                <a:latin typeface="微软雅黑"/>
                <a:ea typeface="微软雅黑"/>
              </a:rPr>
              <a:t>（github.com/NeoxNexus/NexusRhythm）</a:t>
            </a:r>
            <a:endParaRPr sz="125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225296" cy="7772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想法</a:t>
            </a:r>
            <a:endParaRPr sz="10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1737360" y="2121408"/>
            <a:ext cx="155448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01952" y="1874519"/>
            <a:ext cx="1225296" cy="7772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Discovery 收敛</a:t>
            </a:r>
            <a:endParaRPr sz="10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136391" y="2121408"/>
            <a:ext cx="155448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00984" y="1874519"/>
            <a:ext cx="1225296" cy="7772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SDD 设计</a:t>
            </a:r>
            <a:endParaRPr sz="10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535424" y="2121408"/>
            <a:ext cx="155448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0016" y="1874519"/>
            <a:ext cx="1225296" cy="7772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红灯测试</a:t>
            </a:r>
            <a:endParaRPr sz="10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5934456" y="2121408"/>
            <a:ext cx="155448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99048" y="1874519"/>
            <a:ext cx="1225296" cy="7772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AI 实现</a:t>
            </a:r>
            <a:endParaRPr sz="10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7333488" y="2121408"/>
            <a:ext cx="155448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0" y="1874519"/>
            <a:ext cx="1225296" cy="777240"/>
          </a:xfrm>
          <a:prstGeom prst="roundRect">
            <a:avLst/>
          </a:prstGeom>
          <a:solidFill>
            <a:srgbClr val="9E1B32"/>
          </a:solidFill>
          <a:ln w="12700">
            <a:solidFill>
              <a:srgbClr val="7A1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</a:rPr>
              <a:t>三门禁
类型/构建/测试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8732520" y="2121408"/>
            <a:ext cx="155448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97112" y="1874519"/>
            <a:ext cx="1225296" cy="7772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独立评审</a:t>
            </a:r>
            <a:endParaRPr sz="10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10131552" y="2121408"/>
            <a:ext cx="155448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96144" y="1874519"/>
            <a:ext cx="1225296" cy="7772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记忆蒸馏</a:t>
            </a:r>
            <a:endParaRPr sz="10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297180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9E1B32"/>
                </a:solidFill>
                <a:latin typeface="微软雅黑"/>
                <a:ea typeface="微软雅黑"/>
              </a:rPr>
              <a:t>三个关键机制</a:t>
            </a:r>
            <a:endParaRPr sz="1300" b="1" i="0">
              <a:solidFill>
                <a:srgbClr val="9E1B32"/>
              </a:solidFill>
              <a:latin typeface="微软雅黑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11831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● 状态机驱动：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ROADMAP 管理阶段状态，禁止跳步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4206240"/>
            <a:ext cx="111831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● 多智能体分工：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architect 设计 / reviewer 评审 / debt-collector 清债，互相制衡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5074920"/>
            <a:ext cx="111831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● 记忆蒸馏闭环：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Journal → ADR → /distill → Rules，踩过的坑自动变成 AI 下次的规则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82296" cy="4572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10972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 i="0">
                <a:solidFill>
                  <a:srgbClr val="333333"/>
                </a:solidFill>
                <a:latin typeface="微软雅黑"/>
                <a:ea typeface="微软雅黑"/>
              </a:rPr>
              <a:t>AI 写了 ~100% 的代码，但每一行都过了"门禁"</a:t>
            </a:r>
            <a:endParaRPr sz="25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83112" cy="279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9 / 14</a:t>
            </a:r>
            <a:endParaRPr sz="100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8311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本项目全程重度 Vibe Coding，并从中沉淀出开源工作流框架 </a:t>
            </a: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NexusRhythm</a:t>
            </a:r>
            <a:r>
              <a:rPr sz="1250" b="0" i="0">
                <a:solidFill>
                  <a:srgbClr val="666666"/>
                </a:solidFill>
                <a:latin typeface="微软雅黑"/>
                <a:ea typeface="微软雅黑"/>
              </a:rPr>
              <a:t>（github.com/NeoxNexus/NexusRhythm）</a:t>
            </a:r>
            <a:endParaRPr sz="125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225296" cy="7772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想法</a:t>
            </a:r>
            <a:endParaRPr sz="10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1737360" y="2121408"/>
            <a:ext cx="155448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01952" y="1874519"/>
            <a:ext cx="1225296" cy="7772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Discovery 收敛</a:t>
            </a:r>
            <a:endParaRPr sz="10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136391" y="2121408"/>
            <a:ext cx="155448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00984" y="1874519"/>
            <a:ext cx="1225296" cy="7772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SDD 设计</a:t>
            </a:r>
            <a:endParaRPr sz="10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535424" y="2121408"/>
            <a:ext cx="155448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0016" y="1874519"/>
            <a:ext cx="1225296" cy="7772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红灯测试</a:t>
            </a:r>
            <a:endParaRPr sz="10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5934456" y="2121408"/>
            <a:ext cx="155448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99048" y="1874519"/>
            <a:ext cx="1225296" cy="7772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AI 实现</a:t>
            </a:r>
            <a:endParaRPr sz="10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7333488" y="2121408"/>
            <a:ext cx="155448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0" y="1874519"/>
            <a:ext cx="1225296" cy="777240"/>
          </a:xfrm>
          <a:prstGeom prst="roundRect">
            <a:avLst/>
          </a:prstGeom>
          <a:solidFill>
            <a:srgbClr val="9E1B32"/>
          </a:solidFill>
          <a:ln w="12700">
            <a:solidFill>
              <a:srgbClr val="7A1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</a:rPr>
              <a:t>三门禁
类型/构建/测试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8732520" y="2121408"/>
            <a:ext cx="155448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97112" y="1874519"/>
            <a:ext cx="1225296" cy="7772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独立评审</a:t>
            </a:r>
            <a:endParaRPr sz="10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10131552" y="2121408"/>
            <a:ext cx="155448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96144" y="1874519"/>
            <a:ext cx="1225296" cy="77724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微软雅黑"/>
                <a:ea typeface="微软雅黑"/>
              </a:rPr>
              <a:t>记忆蒸馏</a:t>
            </a:r>
            <a:endParaRPr sz="10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297180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9E1B32"/>
                </a:solidFill>
                <a:latin typeface="微软雅黑"/>
                <a:ea typeface="微软雅黑"/>
              </a:rPr>
              <a:t>三个关键机制</a:t>
            </a:r>
            <a:endParaRPr sz="1300" b="1" i="0">
              <a:solidFill>
                <a:srgbClr val="9E1B32"/>
              </a:solidFill>
              <a:latin typeface="微软雅黑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11831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● 状态机驱动：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ROADMAP 管理阶段状态，禁止跳步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4206240"/>
            <a:ext cx="111831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● 多智能体分工：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architect 设计 / reviewer 评审 / debt-collector 清债，互相制衡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5074920"/>
            <a:ext cx="111831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● 记忆蒸馏闭环：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Journal → ADR → /distill → Rules，踩过的坑自动变成 AI 下次的规则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82296" cy="4572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10972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 i="0">
                <a:solidFill>
                  <a:srgbClr val="333333"/>
                </a:solidFill>
                <a:latin typeface="微软雅黑"/>
                <a:ea typeface="微软雅黑"/>
              </a:rPr>
              <a:t>AI 负责产能，人负责判断</a:t>
            </a:r>
            <a:endParaRPr sz="25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83112" cy="279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10 / 14</a:t>
            </a:r>
            <a:endParaRPr sz="100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831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9E1B32"/>
                </a:solidFill>
                <a:latin typeface="微软雅黑"/>
                <a:ea typeface="微软雅黑"/>
              </a:rPr>
              <a:t>● 工具链：</a:t>
            </a:r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Claude Code + NexusRhythm（自定义命令 / 多智能体 / 规则体系）</a:t>
            </a:r>
            <a:endParaRPr sz="13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11831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9E1B32"/>
                </a:solidFill>
                <a:latin typeface="微软雅黑"/>
                <a:ea typeface="微软雅黑"/>
              </a:rPr>
              <a:t>● AI 产出占比：</a:t>
            </a:r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代码、测试、文档 ≈100% 由 AI 生成</a:t>
            </a:r>
            <a:endParaRPr sz="13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3063239"/>
            <a:ext cx="111831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9E1B32"/>
                </a:solidFill>
                <a:latin typeface="微软雅黑"/>
                <a:ea typeface="微软雅黑"/>
              </a:rPr>
              <a:t>● 人的角色四件事：</a:t>
            </a:r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定义需求、架构决策、评审设计、最终验收</a:t>
            </a:r>
            <a:endParaRPr sz="13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111831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9E1B32"/>
                </a:solidFill>
                <a:latin typeface="微软雅黑"/>
                <a:ea typeface="微软雅黑"/>
              </a:rPr>
              <a:t>● Dogfooding：</a:t>
            </a:r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本项目后期就是用“它自己路由的请求”开发的——8 月的路由数据里就包含开发它自己的流量</a:t>
            </a:r>
            <a:endParaRPr sz="13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4892040"/>
            <a:ext cx="11183112" cy="141732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9E1B32"/>
                </a:solidFill>
                <a:latin typeface="微软雅黑"/>
                <a:ea typeface="微软雅黑"/>
              </a:rPr>
              <a:t>实例：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AI 早期曾产出 2546 行的“15 维评分器”，评审后判断其不符合线上链路实际需求，</a:t>
            </a:r>
            <a:r>
              <a:rPr sz="1300" b="1" i="0">
                <a:solidFill>
                  <a:srgbClr val="333333"/>
                </a:solidFill>
                <a:latin typeface="微软雅黑"/>
                <a:ea typeface="微软雅黑"/>
              </a:rPr>
              <a:t>未接入</a:t>
            </a: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，换成更朴素可控的三层级联方案——决策过程完整留痕于设计评审文档。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82296" cy="4572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10972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 i="0">
                <a:solidFill>
                  <a:srgbClr val="333333"/>
                </a:solidFill>
                <a:latin typeface="微软雅黑"/>
                <a:ea typeface="微软雅黑"/>
              </a:rPr>
              <a:t>三个原创设计</a:t>
            </a:r>
            <a:endParaRPr sz="25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83112" cy="279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11 / 14</a:t>
            </a:r>
            <a:endParaRPr sz="100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118311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599432"/>
                <a:gridCol w="4114800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创新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对比传统方案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9E1B32"/>
                          </a:solidFill>
                          <a:latin typeface="微软雅黑"/>
                          <a:ea typeface="微软雅黑"/>
                        </a:rPr>
                        <a:t>中英双语
分层级联分类</a:t>
                      </a:r>
                      <a:endParaRPr sz="1300" b="1" i="0">
                        <a:solidFill>
                          <a:srgbClr val="9E1B32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规则短路 → 启发式 → 语义判官，亚毫秒级、零 token 开销</a:t>
                      </a:r>
                      <a:endParaRPr sz="13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传统路由多依赖云端 embedding，慢两个数量级且分类本身收费</a:t>
                      </a:r>
                      <a:endParaRPr sz="13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9E1B32"/>
                          </a:solidFill>
                          <a:latin typeface="微软雅黑"/>
                          <a:ea typeface="微软雅黑"/>
                        </a:rPr>
                        <a:t>代价非对称的
决策设计</a:t>
                      </a:r>
                      <a:endParaRPr sz="1300" b="1" i="0">
                        <a:solidFill>
                          <a:srgbClr val="9E1B32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升档必须由信号驱动；错误偏向“后悔小”的方向</a:t>
                      </a:r>
                      <a:endParaRPr sz="13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多数方案只有简单/复杂两级，无明确代价模型</a:t>
                      </a:r>
                      <a:endParaRPr sz="13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9E1B32"/>
                          </a:solidFill>
                          <a:latin typeface="微软雅黑"/>
                          <a:ea typeface="微软雅黑"/>
                        </a:rPr>
                        <a:t>反事实基线计价</a:t>
                      </a:r>
                      <a:endParaRPr sz="1300" b="1" i="0">
                        <a:solidFill>
                          <a:srgbClr val="9E1B32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“同样的请求若走原模型需花多少”实时重定价，节省金额可逐笔审计</a:t>
                      </a:r>
                      <a:endParaRPr sz="13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“省钱”通常停留在估算，无法回溯</a:t>
                      </a:r>
                      <a:endParaRPr sz="13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82296" cy="4572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10972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 i="0">
                <a:solidFill>
                  <a:srgbClr val="333333"/>
                </a:solidFill>
                <a:latin typeface="微软雅黑"/>
                <a:ea typeface="微软雅黑"/>
              </a:rPr>
              <a:t>赛道已被商业验证，但"零成本+私有化"的位置是空的</a:t>
            </a:r>
            <a:endParaRPr sz="25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83112" cy="279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12 / 14</a:t>
            </a:r>
            <a:endParaRPr sz="100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6599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947672"/>
                <a:gridCol w="1783080"/>
                <a:gridCol w="1645920"/>
                <a:gridCol w="1600200"/>
                <a:gridCol w="1645920"/>
                <a:gridCol w="1508760"/>
              </a:tblGrid>
              <a:tr h="5486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NexusRouter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Not Diamond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OpenRouter Auto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RouteLLM (LMSYS)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vLLM Semantic Router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LiteLLM/new-api 等网关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9E1B3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路由机制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本地级联分类</a:t>
                      </a:r>
                      <a:endParaRPr sz="1000" b="1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云端训练模型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云端分类器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本地训练分类器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BERT 分类器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不做复杂度分类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分类成本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 token</a:t>
                      </a:r>
                      <a:endParaRPr sz="1000" b="1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$0.05/百万路由 token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SaaS 内含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需调 OpenAI embedding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需 GPU/CPU 推理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判定延迟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&lt;1ms</a:t>
                      </a:r>
                      <a:endParaRPr sz="1000" b="1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官方自曝 100-150ms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未公开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未公开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毫秒级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私有化部署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npm 单进程，内网可跑</a:t>
                      </a:r>
                      <a:endParaRPr sz="1000" b="1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仅企业版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❌ 纯 SaaS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可，但 2024 年起停更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需 K8s+Envoy+vLLM 整套栈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可，但只管负载均衡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5EEE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路由粒度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 级复杂度阶梯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全模型池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~30 任务类型×成本档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仅强/弱二分类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多信号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部署级</a:t>
                      </a:r>
                      <a:endParaRPr sz="1000" b="0" i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897880"/>
            <a:ext cx="11365992" cy="566928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333333"/>
                </a:solidFill>
                <a:latin typeface="微软雅黑"/>
                <a:ea typeface="微软雅黑"/>
              </a:rPr>
              <a:t>商业路由验证了赛道价值，但都是云端收费黑盒；开源方案要么停更、要么部署太重；网关类产品根本不看请求内容。</a:t>
            </a:r>
            <a:endParaRPr sz="12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82296" cy="4572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10972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 i="0">
                <a:solidFill>
                  <a:srgbClr val="333333"/>
                </a:solidFill>
                <a:latin typeface="微软雅黑"/>
                <a:ea typeface="微软雅黑"/>
              </a:rPr>
              <a:t>双交付物，开箱即用</a:t>
            </a:r>
            <a:endParaRPr sz="25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83112" cy="279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13 / 14</a:t>
            </a:r>
            <a:endParaRPr sz="100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486400" cy="219456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9E1B32"/>
                </a:solidFill>
                <a:latin typeface="微软雅黑"/>
                <a:ea typeface="微软雅黑"/>
              </a:rPr>
              <a:t>交付物 1（产品）：NexusRouter</a:t>
            </a:r>
            <a:endParaRPr sz="1500" b="1" i="0">
              <a:solidFill>
                <a:srgbClr val="9E1B32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npm 一行安装 / Docker 一键部署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完整 new-api 服务侧部署方案（含 nginx 配置）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9E1B32"/>
                </a:solidFill>
                <a:latin typeface="微软雅黑"/>
                <a:ea typeface="微软雅黑"/>
              </a:rPr>
              <a:t>产品化潜力：</a:t>
            </a: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new-api 是行业广泛使用的开源网关，任何用 new-api / one-api 的团队都能直接复用</a:t>
            </a:r>
            <a:endParaRPr sz="12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219456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9E1B32"/>
                </a:solidFill>
                <a:latin typeface="微软雅黑"/>
                <a:ea typeface="微软雅黑"/>
              </a:rPr>
              <a:t>交付物 2（方法论）：NexusRhythm</a:t>
            </a:r>
            <a:endParaRPr sz="1500" b="1" i="0">
              <a:solidFill>
                <a:srgbClr val="9E1B32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AI 工程工作流框架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clone 即用、可注入任何项目</a:t>
            </a:r>
            <a:endParaRPr sz="13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9E1B32"/>
                </a:solidFill>
                <a:latin typeface="微软雅黑"/>
                <a:ea typeface="微软雅黑"/>
              </a:rPr>
              <a:t>推广路径三步走</a:t>
            </a:r>
            <a:endParaRPr sz="1300" b="1" i="0">
              <a:solidFill>
                <a:srgbClr val="9E1B32"/>
              </a:solidFill>
              <a:latin typeface="微软雅黑"/>
              <a:ea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4023360"/>
            <a:ext cx="3520440" cy="173736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✅ 个人试点</a:t>
            </a:r>
            <a:endParaRPr sz="1400" b="1" i="0">
              <a:solidFill>
                <a:srgbClr val="9E1B32"/>
              </a:solidFill>
              <a:latin typeface="微软雅黑"/>
              <a:ea typeface="微软雅黑"/>
            </a:endParaRP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已完成，数据已验证</a:t>
            </a:r>
            <a:endParaRPr sz="12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4041648" y="4754880"/>
            <a:ext cx="274320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34256" y="4023360"/>
            <a:ext cx="3520440" cy="173736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9E1B32"/>
                </a:solidFill>
                <a:latin typeface="微软雅黑"/>
                <a:ea typeface="微软雅黑"/>
              </a:rPr>
              <a:t>✅ 7 人小团队部署测试</a:t>
            </a:r>
            <a:endParaRPr sz="1400" b="1" i="0">
              <a:solidFill>
                <a:srgbClr val="9E1B32"/>
              </a:solidFill>
              <a:latin typeface="微软雅黑"/>
              <a:ea typeface="微软雅黑"/>
            </a:endParaRP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已完成</a:t>
            </a:r>
            <a:endParaRPr sz="120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7872983" y="4754880"/>
            <a:ext cx="274320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65592" y="4023360"/>
            <a:ext cx="3520440" cy="1737360"/>
          </a:xfrm>
          <a:prstGeom prst="roundRect">
            <a:avLst/>
          </a:prstGeom>
          <a:solidFill>
            <a:srgbClr val="9E1B32"/>
          </a:solidFill>
          <a:ln w="12700">
            <a:solidFill>
              <a:srgbClr val="7A1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🔲 公司级部署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</a:endParaRP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服务侧挂在平台前，全员 auto 接入，GLM 限额按需分配</a:t>
            </a:r>
            <a:endParaRPr sz="1200" b="0" i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82296" cy="4572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10972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 i="0">
                <a:solidFill>
                  <a:srgbClr val="333333"/>
                </a:solidFill>
                <a:latin typeface="微软雅黑"/>
                <a:ea typeface="微软雅黑"/>
              </a:rPr>
              <a:t>让每一次 AI 调用都落在合适的模型上</a:t>
            </a:r>
            <a:endParaRPr sz="25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83112" cy="279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14 / 14</a:t>
            </a:r>
            <a:endParaRPr sz="100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83112" cy="1051560"/>
          </a:xfrm>
          <a:prstGeom prst="roundRect">
            <a:avLst/>
          </a:prstGeom>
          <a:solidFill>
            <a:srgbClr val="F7F2F3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333333"/>
                </a:solidFill>
                <a:latin typeface="微软雅黑"/>
                <a:ea typeface="微软雅黑"/>
              </a:rPr>
              <a:t>用 &lt;1ms 的本地调度，换公司模型资产的整体提效——已验证节省 </a:t>
            </a:r>
            <a:r>
              <a:rPr sz="2200" b="1" i="0">
                <a:solidFill>
                  <a:srgbClr val="9E1B32"/>
                </a:solidFill>
                <a:latin typeface="微软雅黑"/>
                <a:ea typeface="微软雅黑"/>
              </a:rPr>
              <a:t>49.4%</a:t>
            </a:r>
            <a:endParaRPr sz="2200" b="1" i="0">
              <a:solidFill>
                <a:srgbClr val="9E1B32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111831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9E1B32"/>
                </a:solidFill>
                <a:latin typeface="微软雅黑"/>
                <a:ea typeface="微软雅黑"/>
              </a:rPr>
              <a:t>近期迭代：</a:t>
            </a:r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任务级路由记忆、可观测性增强（结构化决策日志 / metrics 端点）</a:t>
            </a:r>
            <a:endParaRPr sz="1350" b="0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1118311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9E1B32"/>
                </a:solidFill>
                <a:latin typeface="微软雅黑"/>
                <a:ea typeface="微软雅黑"/>
              </a:rPr>
              <a:t>未来方向：</a:t>
            </a:r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结合公司安全主业——基于路由层的大模型审计与敏感请求阻断</a:t>
            </a:r>
            <a:endParaRPr sz="1350" b="0" i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 i="0">
                <a:solidFill>
                  <a:srgbClr val="666666"/>
                </a:solidFill>
                <a:latin typeface="微软雅黑"/>
                <a:ea typeface="微软雅黑"/>
              </a:rPr>
              <a:t>（敏感代码定向私有模型、数据不出内网；路由层是天然的流量卡口）</a:t>
            </a:r>
            <a:endParaRPr sz="1250" b="0" i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5394960"/>
            <a:ext cx="111831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9E1B32"/>
                </a:solidFill>
                <a:latin typeface="微软雅黑"/>
                <a:ea typeface="微软雅黑"/>
              </a:rPr>
              <a:t>谢谢各位评委，欢迎审计代码、验证数据。</a:t>
            </a:r>
            <a:endParaRPr sz="2000" b="1" i="0">
              <a:solidFill>
                <a:srgbClr val="9E1B32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4119</Words>
  <Application>WPS 演示</Application>
  <PresentationFormat>On-screen Show (4:3)</PresentationFormat>
  <Paragraphs>444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微软雅黑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老王</cp:lastModifiedBy>
  <cp:revision>4</cp:revision>
  <dcterms:created xsi:type="dcterms:W3CDTF">2026-08-28T08:57:14Z</dcterms:created>
  <dcterms:modified xsi:type="dcterms:W3CDTF">2026-08-28T08:57:14Z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2052-12.1.26035.26035</vt:lpwstr>
  </property>
  <property fmtid="{D5CDD505-2E9C-101B-9397-08002B2CF9AE}" pid="3" name="ICV">
    <vt:lpwstr>6F4F731EA06810CDB74C916A49D284AA_42</vt:lpwstr>
  </property>
</Properties>
</file>